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88825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243" y="1803405"/>
            <a:ext cx="9446339" cy="1825096"/>
          </a:xfrm>
        </p:spPr>
        <p:txBody>
          <a:bodyPr anchor="b">
            <a:normAutofit/>
          </a:bodyPr>
          <a:lstStyle>
            <a:lvl1pPr algn="l">
              <a:defRPr sz="59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243" y="3632201"/>
            <a:ext cx="9446339" cy="685800"/>
          </a:xfrm>
        </p:spPr>
        <p:txBody>
          <a:bodyPr>
            <a:normAutofit/>
          </a:bodyPr>
          <a:lstStyle>
            <a:lvl1pPr marL="0" indent="0" algn="l">
              <a:buNone/>
              <a:defRPr sz="19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7501" y="4314328"/>
            <a:ext cx="2910082" cy="37464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243" y="4323846"/>
            <a:ext cx="63991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5096" y="1430867"/>
            <a:ext cx="274248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99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4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88825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753534"/>
            <a:ext cx="10817581" cy="2801935"/>
          </a:xfrm>
        </p:spPr>
        <p:txBody>
          <a:bodyPr anchor="b">
            <a:normAutofit/>
          </a:bodyPr>
          <a:lstStyle>
            <a:lvl1pPr algn="r">
              <a:defRPr sz="39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200" y="3641726"/>
            <a:ext cx="10487468" cy="955675"/>
          </a:xfrm>
        </p:spPr>
        <p:txBody>
          <a:bodyPr>
            <a:normAutofit/>
          </a:bodyPr>
          <a:lstStyle>
            <a:lvl1pPr marL="0" indent="0" algn="r">
              <a:buNone/>
              <a:defRPr sz="21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2417" y="381001"/>
            <a:ext cx="2910082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622" y="381002"/>
            <a:ext cx="6989671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59623" y="381001"/>
            <a:ext cx="6435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30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621" y="2194560"/>
            <a:ext cx="5332611" cy="40241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3" y="2194560"/>
            <a:ext cx="5332611" cy="40241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46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4846" y="762000"/>
            <a:ext cx="8608358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71" y="2183802"/>
            <a:ext cx="5078668" cy="823912"/>
          </a:xfrm>
        </p:spPr>
        <p:txBody>
          <a:bodyPr anchor="b">
            <a:normAutofit/>
          </a:bodyPr>
          <a:lstStyle>
            <a:lvl1pPr marL="0" indent="0">
              <a:buNone/>
              <a:defRPr sz="27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622" y="3132667"/>
            <a:ext cx="5310392" cy="30860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9133" y="2183802"/>
            <a:ext cx="5104070" cy="823912"/>
          </a:xfrm>
        </p:spPr>
        <p:txBody>
          <a:bodyPr anchor="b">
            <a:normAutofit/>
          </a:bodyPr>
          <a:lstStyle>
            <a:lvl1pPr marL="0" indent="0">
              <a:buNone/>
              <a:defRPr sz="27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3132667"/>
            <a:ext cx="5332611" cy="30860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77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28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17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1524000"/>
            <a:ext cx="4113728" cy="1600200"/>
          </a:xfrm>
        </p:spPr>
        <p:txBody>
          <a:bodyPr anchor="b"/>
          <a:lstStyle>
            <a:lvl1pPr algn="l">
              <a:defRPr sz="31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4281" y="746760"/>
            <a:ext cx="6508923" cy="5471925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622" y="3124200"/>
            <a:ext cx="4113728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838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1524000"/>
            <a:ext cx="6871450" cy="1600200"/>
          </a:xfrm>
        </p:spPr>
        <p:txBody>
          <a:bodyPr anchor="b"/>
          <a:lstStyle>
            <a:lvl1pPr algn="l">
              <a:defRPr sz="31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59191" y="751242"/>
            <a:ext cx="3644013" cy="5467443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621" y="3124200"/>
            <a:ext cx="687145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692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598" y="4697361"/>
            <a:ext cx="10819216" cy="819355"/>
          </a:xfrm>
        </p:spPr>
        <p:txBody>
          <a:bodyPr anchor="b"/>
          <a:lstStyle>
            <a:lvl1pPr algn="l">
              <a:defRPr sz="31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549" y="941440"/>
            <a:ext cx="10819022" cy="3478161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622" y="5516716"/>
            <a:ext cx="10817582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90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88825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753533"/>
            <a:ext cx="10817582" cy="2802467"/>
          </a:xfrm>
        </p:spPr>
        <p:txBody>
          <a:bodyPr anchor="ctr"/>
          <a:lstStyle>
            <a:lvl1pPr algn="l">
              <a:defRPr sz="31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200" y="3649134"/>
            <a:ext cx="10127878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2417" y="381001"/>
            <a:ext cx="2910082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622" y="379942"/>
            <a:ext cx="698967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59623" y="381001"/>
            <a:ext cx="6435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03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88825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201" y="753534"/>
            <a:ext cx="10148889" cy="2604495"/>
          </a:xfrm>
        </p:spPr>
        <p:txBody>
          <a:bodyPr anchor="ctr"/>
          <a:lstStyle>
            <a:lvl1pPr algn="l">
              <a:defRPr sz="31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525" y="3365557"/>
            <a:ext cx="9590238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201" y="3959863"/>
            <a:ext cx="10148889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2417" y="381001"/>
            <a:ext cx="2910082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622" y="379942"/>
            <a:ext cx="698967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59623" y="381001"/>
            <a:ext cx="6435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126" y="93345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1370" y="270129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993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88825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228" y="1124702"/>
            <a:ext cx="10143544" cy="2511835"/>
          </a:xfrm>
        </p:spPr>
        <p:txBody>
          <a:bodyPr anchor="b"/>
          <a:lstStyle>
            <a:lvl1pPr algn="l">
              <a:defRPr sz="31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200" y="3648316"/>
            <a:ext cx="10142012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2417" y="378884"/>
            <a:ext cx="2910082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622" y="378884"/>
            <a:ext cx="698967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59623" y="381001"/>
            <a:ext cx="6435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51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4846" y="762000"/>
            <a:ext cx="8608357" cy="13038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621" y="2202080"/>
            <a:ext cx="3455532" cy="617320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620" y="2904565"/>
            <a:ext cx="34555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7662" y="2201333"/>
            <a:ext cx="3455532" cy="626534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5721" y="2904067"/>
            <a:ext cx="34555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03" y="2192866"/>
            <a:ext cx="3455532" cy="626534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49704" y="2904565"/>
            <a:ext cx="34555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4741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4846" y="762000"/>
            <a:ext cx="8608357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439" y="4191001"/>
            <a:ext cx="3450683" cy="682765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439" y="2362200"/>
            <a:ext cx="345068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439" y="4873765"/>
            <a:ext cx="3450683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3124" y="4191001"/>
            <a:ext cx="3448037" cy="682765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3124" y="2362200"/>
            <a:ext cx="344803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3125" y="4873764"/>
            <a:ext cx="3448037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7635" y="4191001"/>
            <a:ext cx="3455569" cy="682765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7759" y="2362200"/>
            <a:ext cx="344698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7635" y="4873762"/>
            <a:ext cx="3451546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88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622" y="2194560"/>
            <a:ext cx="10817582" cy="40241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55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88825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6339" y="745067"/>
            <a:ext cx="2056864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200" y="745068"/>
            <a:ext cx="8202064" cy="390313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2417" y="379942"/>
            <a:ext cx="2910082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622" y="381001"/>
            <a:ext cx="698967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59623" y="381001"/>
            <a:ext cx="6435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38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4846" y="764373"/>
            <a:ext cx="8608358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2" y="2194561"/>
            <a:ext cx="10817582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3122" y="6356351"/>
            <a:ext cx="2910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621" y="6355846"/>
            <a:ext cx="7770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0718" y="38100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5701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126" rtl="0" eaLnBrk="1" latinLnBrk="0" hangingPunct="1">
        <a:lnSpc>
          <a:spcPct val="90000"/>
        </a:lnSpc>
        <a:spcBef>
          <a:spcPct val="0"/>
        </a:spcBef>
        <a:buNone/>
        <a:defRPr sz="3999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1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Projeto Prático Final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 sz="2400"/>
            </a:pPr>
            <a:r>
              <a:t>Desenvolvimento para Ciência de Dados II</a:t>
            </a:r>
            <a:br/>
            <a:r>
              <a:t>Data Warehouse + Machine Learning</a:t>
            </a:r>
            <a:br/>
            <a:br/>
            <a:r>
              <a:t>Aluno: Artur Nemer Xavier Costa</a:t>
            </a:r>
            <a:br/>
            <a:r>
              <a:t>Professor: José Antonio de Paiva Júnior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Construir um Data Warehouse</a:t>
            </a:r>
            <a:br/>
            <a:r>
              <a:t>• Implementar ETL</a:t>
            </a:r>
            <a:br/>
            <a:r>
              <a:t>• Realizar EDA</a:t>
            </a:r>
            <a:br/>
            <a:r>
              <a:t>• Aplicar Machine Learning</a:t>
            </a:r>
            <a:br/>
            <a:r>
              <a:t>• Gerar insights de negócio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Sample Superstore</a:t>
            </a:r>
            <a:br/>
            <a:r>
              <a:t>• 9.994 registros</a:t>
            </a:r>
            <a:br/>
            <a:r>
              <a:t>• 21 colunas</a:t>
            </a:r>
            <a:br/>
            <a:r>
              <a:t>• Dados de vendas, clientes, produtos e regiões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CSV → ETL (Python) → PostgreSQL → Data Warehouse → EDA → Machine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Modelagem Dimensional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Star Schema</a:t>
            </a:r>
            <a:br/>
            <a:br/>
            <a:r>
              <a:t>Dimensões:</a:t>
            </a:r>
            <a:br/>
            <a:r>
              <a:t>• Cliente</a:t>
            </a:r>
            <a:br/>
            <a:r>
              <a:t>• Produto</a:t>
            </a:r>
            <a:br/>
            <a:r>
              <a:t>• Local</a:t>
            </a:r>
            <a:br/>
            <a:r>
              <a:t>• Tempo</a:t>
            </a:r>
            <a:br/>
            <a:br/>
            <a:r>
              <a:t>Tabela Fato:</a:t>
            </a:r>
            <a:br/>
            <a:r>
              <a:t>• Fato_Vendas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PostgreSQL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Criação das tabelas</a:t>
            </a:r>
            <a:br/>
            <a:r>
              <a:t>• ETL automatizado</a:t>
            </a:r>
            <a:br/>
            <a:r>
              <a:t>• Views analíticas</a:t>
            </a:r>
            <a:br/>
            <a:r>
              <a:t>• Consultas 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Análise Exploratória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Gráficos produzidos:</a:t>
            </a:r>
            <a:br/>
            <a:r>
              <a:t>• Distribuição das vendas</a:t>
            </a:r>
            <a:br/>
            <a:r>
              <a:t>• Lucro por categoria</a:t>
            </a:r>
            <a:br/>
            <a:r>
              <a:t>• Evolução temporal</a:t>
            </a:r>
            <a:br/>
            <a:r>
              <a:t>• Vendas por região</a:t>
            </a:r>
            <a:br/>
            <a:r>
              <a:t>• Lucro por segmento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Classificação:</a:t>
            </a:r>
            <a:br/>
            <a:r>
              <a:t>• KNN</a:t>
            </a:r>
            <a:br/>
            <a:r>
              <a:t>• Decision Tree</a:t>
            </a:r>
            <a:br/>
            <a:r>
              <a:t>• Random Forest</a:t>
            </a:r>
            <a:br/>
            <a:r>
              <a:t>• Logistic Regression</a:t>
            </a:r>
            <a:br/>
            <a:br/>
            <a:r>
              <a:t>Regressão:</a:t>
            </a:r>
            <a:br/>
            <a:r>
              <a:t>• Linear Regression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400"/>
            </a:pPr>
            <a:r>
              <a:t>Classificação:</a:t>
            </a:r>
            <a:br/>
            <a:r>
              <a:t>• Accuracy</a:t>
            </a:r>
            <a:br/>
            <a:r>
              <a:t>• Precision</a:t>
            </a:r>
            <a:br/>
            <a:r>
              <a:t>• Recall</a:t>
            </a:r>
            <a:br/>
            <a:r>
              <a:t>• F1-Score</a:t>
            </a:r>
            <a:br/>
            <a:r>
              <a:t>• Matriz de Confusão</a:t>
            </a:r>
            <a:br/>
            <a:br/>
            <a:r>
              <a:t>Regressão:</a:t>
            </a:r>
            <a:br/>
            <a:r>
              <a:t>• MAE</a:t>
            </a:r>
            <a:br/>
            <a:r>
              <a:t>• MSE</a:t>
            </a:r>
            <a:br/>
            <a:r>
              <a:t>• RMSE</a:t>
            </a:r>
            <a:br/>
            <a:r>
              <a:t>• R²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Tecnologia apresentou maior lucratividade</a:t>
            </a:r>
            <a:br/>
            <a:r>
              <a:t>• Regiões West e East lideram vendas</a:t>
            </a:r>
            <a:br/>
            <a:r>
              <a:t>• Grandes descontos reduzem o lucro</a:t>
            </a:r>
            <a:br/>
            <a:r>
              <a:t>• Segmento Corporate possui maior ticket médio</a:t>
            </a:r>
            <a:br/>
            <a:r>
              <a:t>• Quantidade influencia as vendas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Objetivos alcançados</a:t>
            </a:r>
            <a:br/>
            <a:r>
              <a:t>• Data Warehouse implementado</a:t>
            </a:r>
            <a:br/>
            <a:r>
              <a:t>• Modelos comparados</a:t>
            </a:r>
            <a:br/>
            <a:r>
              <a:t>• Solução apta para apoio à decisão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0198" y="2782486"/>
            <a:ext cx="3008428" cy="1293028"/>
          </a:xfrm>
        </p:spPr>
        <p:txBody>
          <a:bodyPr/>
          <a:lstStyle/>
          <a:p>
            <a:r>
              <a:rPr dirty="0" err="1"/>
              <a:t>Obrigado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ilha de Vapor">
  <a:themeElements>
    <a:clrScheme name="Trilha de Vapor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Trilha de Vapor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ilha de Vapor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TM04033937[[fn=Trilha de Vapor]]</Template>
  <TotalTime>2</TotalTime>
  <Words>292</Words>
  <Application>Microsoft Office PowerPoint</Application>
  <PresentationFormat>Personalizar</PresentationFormat>
  <Paragraphs>23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Century Gothic</vt:lpstr>
      <vt:lpstr>Trilha de Vapor</vt:lpstr>
      <vt:lpstr>Projeto Prático Final</vt:lpstr>
      <vt:lpstr>Objetivo</vt:lpstr>
      <vt:lpstr>Dataset</vt:lpstr>
      <vt:lpstr>Arquitetura</vt:lpstr>
      <vt:lpstr>Modelagem Dimensional</vt:lpstr>
      <vt:lpstr>PostgreSQL</vt:lpstr>
      <vt:lpstr>Análise Exploratória</vt:lpstr>
      <vt:lpstr>Machine Learning</vt:lpstr>
      <vt:lpstr>Métricas</vt:lpstr>
      <vt:lpstr>Insights</vt:lpstr>
      <vt:lpstr>Conclusão</vt:lpstr>
      <vt:lpstr>Obrigado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Artur Nemer Xavier Costa</cp:lastModifiedBy>
  <cp:revision>2</cp:revision>
  <dcterms:created xsi:type="dcterms:W3CDTF">2013-01-27T09:14:16Z</dcterms:created>
  <dcterms:modified xsi:type="dcterms:W3CDTF">2026-06-23T23:58:55Z</dcterms:modified>
  <cp:category/>
</cp:coreProperties>
</file>